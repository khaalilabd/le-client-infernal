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t" id="{c3b60bab-6852-c05a-7c19-1eddd0dab617}">
          <p14:sldIdLst>
            <p14:sldId id="256"/>
            <p14:sldId id="257"/>
            <p14:sldId id="258"/>
            <p14:sldId id="259"/>
          </p14:sldIdLst>
        </p14:section>
        <p14:section name="Démarche avec l'IA" id="{05be2d9a-e450-1faf-d752-db74f453120f}">
          <p14:sldIdLst>
            <p14:sldId id="260"/>
            <p14:sldId id="261"/>
            <p14:sldId id="262"/>
          </p14:sldIdLst>
        </p14:section>
        <p14:section name="Modules" id="{98a20e55-9408-45e9-64f1-cb8f4421d188}">
          <p14:sldIdLst>
            <p14:sldId id="263"/>
            <p14:sldId id="264"/>
            <p14:sldId id="265"/>
            <p14:sldId id="266"/>
            <p14:sldId id="267"/>
          </p14:sldIdLst>
        </p14:section>
        <p14:section name="Résultats" id="{cfacd357-9178-4768-f505-a653ecb63899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nclusion" id="{f5387e67-7b72-6269-871e-dedf8bcb411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en entrée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 Génération</c:v>
                  </c:pt>
                  <c:pt idx="1">
                    <c:v>M2 Entretien (6 messages)</c:v>
                  </c:pt>
                  <c:pt idx="2">
                    <c:v>M2 Synthèse</c:v>
                  </c:pt>
                  <c:pt idx="3">
                    <c:v>M4 Évaluation (2 appels)</c:v>
                  </c:pt>
                  <c:pt idx="4">
                    <c:v>M3 Changement (4 appels)</c:v>
                  </c:pt>
                  <c:pt idx="5">
                    <c:v>M5 Recommandation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1602</c:v>
                </c:pt>
                <c:pt idx="1">
                  <c:v>14741</c:v>
                </c:pt>
                <c:pt idx="2">
                  <c:v>1266</c:v>
                </c:pt>
                <c:pt idx="3">
                  <c:v>3262</c:v>
                </c:pt>
                <c:pt idx="4">
                  <c:v>4682</c:v>
                </c:pt>
                <c:pt idx="5">
                  <c:v>1829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Tokens en sortie</c:v>
                </c:pt>
              </c:strCache>
            </c:strRef>
          </c:tx>
          <c:spPr>
            <a:solidFill>
              <a:srgbClr val="E88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 Génération</c:v>
                  </c:pt>
                  <c:pt idx="1">
                    <c:v>M2 Entretien (6 messages)</c:v>
                  </c:pt>
                  <c:pt idx="2">
                    <c:v>M2 Synthèse</c:v>
                  </c:pt>
                  <c:pt idx="3">
                    <c:v>M4 Évaluation (2 appels)</c:v>
                  </c:pt>
                  <c:pt idx="4">
                    <c:v>M3 Changement (4 appels)</c:v>
                  </c:pt>
                  <c:pt idx="5">
                    <c:v>M5 Recommandation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465</c:v>
                </c:pt>
                <c:pt idx="1">
                  <c:v>1012</c:v>
                </c:pt>
                <c:pt idx="2">
                  <c:v>265</c:v>
                </c:pt>
                <c:pt idx="3">
                  <c:v>894</c:v>
                </c:pt>
                <c:pt idx="4">
                  <c:v>1276</c:v>
                </c:pt>
                <c:pt idx="5">
                  <c:v>146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1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1A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Présenté par Khalil Abdelmoumen (chef de projet). Présenter l'équipe et l'idée : une plateforme d'entraînement au recueil des besoins, où un LLM joue un client fictif.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Dérouler le parcours d'une séance en 5 étapes. Insister sur la contrainte : le besoin caché reste côté serveur (triple protection).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Chaque membre applique une technique vue en cours dans son module ; il la présentera sur sa diapositive. Les parties IA des modules 2 et 3 ont été réalisées par le chef de projet : c'est indiqué dans le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React + Express + PostgreSQL/Prisma, monorepo. Tout appel au LLM passe par callLLM : c'est ce qui garantit les 4 contraintes obligatoires pour les 5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La méthode de la Séance 3 appliquée à chaque prompt important. Le plan avant le code a évité de partir dans une mauvaise direction ; la vérification réelle a trouvé des défauts invisibles à la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Le premier prompt du projet a produit l'architecture, la base commune et 13 tests en une session. Ce qui a marché : le plan exigé avant le code et les contraintes formulées de façon vérifiable.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Les prompts utilisés par l'application, distincts des prompts de développement. Chaque version est testée (prompts sans variable manquante, réponses simulées conformes au schéma).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Montrer l'encadré du RAG à l'écran. Calibrage : avec Gemini, la règle générale laissait passer 9 blocs d'autres fiches pour Santé ; nouvelle règle : score ≥ 0,6 et à moins de 0,03 du meilleur.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Kenza Baccar. Expliquer les 4 étapes de l'analyse et pourquoi le raisonnement ne quitte jamais le serveur. Préciser que la partie IA a été réalisée par le chef de projet (P-M2-003), et ce que vous avez relu ou décidé.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Ismail Ismail. Expliquer le vote et la médiane, et le coût : 3 appels au lieu d'un, mais le même temps d'attente. Préciser que la partie IA a été réalisée par le chef de projet (P-M3-003).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Nadhem Hmida. Expliquer les deux appels (correspondance puis grille) et le choix de l'option A (P-M4-003). Limite connue : le commentaire oriente encore vers le besoin caché.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Aziz Louati. Expliquer l'anonymisation et la leçon du Few-shot : des exemples erronés auraient été reproduits. Optimisation en cours : mettre la recommandation en cache (≈ 1 800 tokens par visite).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Toute l'application a été jouée avec gemini-flash-lite-latest, sur des données fictives. La clé est restée dans server/.env, exclu de Git, et a été renouvelée après les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Mesure réelle depuis P-017 : AiCallLog enregistre les tokens de chaque appel, sans aucun contenu. Séance complète avec Gemini le 26/10/2026, 15 appels.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Ismail Ismail (proposition). Les techniques attendues par la grille (note 2) et ce que nous en avons fait, y compris celle que nous n'avons pas appliquée et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Nadhem Hmida (proposition). La liste complète des anomalies et leur correction est dans la section 6.5 du rapport. Recommandations de refactoring : factoriser le contrôle de recopie, mettre la recommandation en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Kenza Baccar (proposition). Une IA qui note des étudiants pose des questions de transparence et d'équité : nous les traitons par l'explication des notes et le contrôle humain.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Aziz Louati (proposition). Chaque membre donne ici sa propre estimation : temps passé sur son module avec l'IA, et temps estimé sans IA. Ces estimations sont à reporter aussi dans la section 8.2 du rapport.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Khalil. Conclure sur les trois enseignements, puis proposer une démonstration en direct si le temps le permet (mode simulé, sans clé).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Infernal · ESPRIT · IA for Software Engineering · 2026-2027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Client Infernal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joue un client qui cache son vrai besoin : l'étudiant ingénieur doit le découvrir.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Khalil Abdelmoumen · Kenza Baccar · Ismail Ismail · Nadhem Hmida · Aziz Louati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· 5SAE · IA for Software Engineering · 2026-2027</a:t>
            </a:r>
            <a:endParaRPr lang="en-US" sz="1400" dirty="0"/>
          </a:p>
        </p:txBody>
      </p:sp>
      <p:sp>
        <p:nvSpPr>
          <p:cNvPr id="6" name="cercle Entretien avec le client"/>
          <p:cNvSpPr/>
          <p:nvPr/>
        </p:nvSpPr>
        <p:spPr>
          <a:xfrm>
            <a:off x="9235440" y="196596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ône Entretien avec le client" descr="Entretien avec le cl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514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client qui ne dit pas tout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entreprise, un client exprime rarement son vrai besoin du premier coup. L'application entraîne l'étudiant à le découvrir, puis à le traduire en exigences.</a:t>
            </a:r>
            <a:endParaRPr lang="en-US" sz="1800" dirty="0"/>
          </a:p>
        </p:txBody>
      </p:sp>
      <p:sp>
        <p:nvSpPr>
          <p:cNvPr id="4" name="étape 1"/>
          <p:cNvSpPr/>
          <p:nvPr/>
        </p:nvSpPr>
        <p:spPr>
          <a:xfrm>
            <a:off x="548640" y="224028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numéro 1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génère un client fictif, sa personnalité et un besoin caché.</a:t>
            </a:r>
            <a:endParaRPr lang="en-US" sz="1400" dirty="0"/>
          </a:p>
        </p:txBody>
      </p:sp>
      <p:sp>
        <p:nvSpPr>
          <p:cNvPr id="10" name="étape 2"/>
          <p:cNvSpPr/>
          <p:nvPr/>
        </p:nvSpPr>
        <p:spPr>
          <a:xfrm>
            <a:off x="2788920" y="224028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numéro 2"/>
          <p:cNvSpPr/>
          <p:nvPr/>
        </p:nvSpPr>
        <p:spPr>
          <a:xfrm>
            <a:off x="301752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1752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206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ne se révèle qu'aux bonnes questions de l'étudiant.</a:t>
            </a:r>
            <a:endParaRPr lang="en-US" sz="1400" dirty="0"/>
          </a:p>
        </p:txBody>
      </p:sp>
      <p:sp>
        <p:nvSpPr>
          <p:cNvPr id="16" name="étape 3"/>
          <p:cNvSpPr/>
          <p:nvPr/>
        </p:nvSpPr>
        <p:spPr>
          <a:xfrm>
            <a:off x="5029200" y="224028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numéro 3"/>
          <p:cNvSpPr/>
          <p:nvPr/>
        </p:nvSpPr>
        <p:spPr>
          <a:xfrm>
            <a:off x="525780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4206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évalue les exigences point par point contre le besoin caché.</a:t>
            </a:r>
            <a:endParaRPr lang="en-US" sz="1400" dirty="0"/>
          </a:p>
        </p:txBody>
      </p:sp>
      <p:sp>
        <p:nvSpPr>
          <p:cNvPr id="22" name="étape 4"/>
          <p:cNvSpPr/>
          <p:nvPr/>
        </p:nvSpPr>
        <p:spPr>
          <a:xfrm>
            <a:off x="7269480" y="224028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numéro 4"/>
          <p:cNvSpPr/>
          <p:nvPr/>
        </p:nvSpPr>
        <p:spPr>
          <a:xfrm>
            <a:off x="749808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206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change d'avis : accepter, négocier ou refuser.</a:t>
            </a:r>
            <a:endParaRPr lang="en-US" sz="1400" dirty="0"/>
          </a:p>
        </p:txBody>
      </p:sp>
      <p:sp>
        <p:nvSpPr>
          <p:cNvPr id="28" name="étape 5"/>
          <p:cNvSpPr/>
          <p:nvPr/>
        </p:nvSpPr>
        <p:spPr>
          <a:xfrm>
            <a:off x="9509760" y="224028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numéro 5"/>
          <p:cNvSpPr/>
          <p:nvPr/>
        </p:nvSpPr>
        <p:spPr>
          <a:xfrm>
            <a:off x="973836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73836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4206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finale, points faibles et prochain scénario recommandé.</a:t>
            </a:r>
            <a:endParaRPr lang="en-US" sz="1400" dirty="0"/>
          </a:p>
        </p:txBody>
      </p:sp>
      <p:sp>
        <p:nvSpPr>
          <p:cNvPr id="34" name="cercle Besoin caché protégé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5" name="icône Besoin caché protégé" descr="Besoin caché protég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5829300"/>
            <a:ext cx="228600" cy="22860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143000" y="5715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caché ne quitte jamais le serveur : il n'apparaît dans aucune réponse de l'API.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modules, une technique d'IA chacun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du cours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de programmation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Khalil Abdelmoumen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Générateur de clients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Kenza Baccar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Entretien client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Chain-of-Thought, Few-shot, anti-injection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· Claude Sonnet 4.5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Ismail Ismail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Demandes de changement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Self-consistency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Antigravity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Nadhem Hmida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Cahier des charges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Least-to-most, Few-shot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Aziz Louati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Tableau de bord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Few-shot, historique anonymisé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· Claude Sonnet 4.5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ercle Base commune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ône Base commune" descr="Base comm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578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51206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commune (chef de projet)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rôles, service IA partagé, sécurité du besoin caché, fin de séance et note finale, rapport généré.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chemin vers le LLM</a:t>
            </a:r>
            <a:endParaRPr lang="en-US" sz="3600" dirty="0"/>
          </a:p>
        </p:txBody>
      </p:sp>
      <p:sp>
        <p:nvSpPr>
          <p:cNvPr id="3" name="cadre Architecture globale de l'application"/>
          <p:cNvSpPr/>
          <p:nvPr/>
        </p:nvSpPr>
        <p:spPr>
          <a:xfrm>
            <a:off x="512064" y="1380744"/>
            <a:ext cx="6931152" cy="364910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4" name="Architecture globale de l'application" descr="Architecture globale de l'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58000" cy="3575957"/>
          </a:xfrm>
          <a:prstGeom prst="rect">
            <a:avLst/>
          </a:prstGeom>
        </p:spPr>
      </p:pic>
      <p:sp>
        <p:nvSpPr>
          <p:cNvPr id="5" name="cercle callLLM(), point d'entrée unique"/>
          <p:cNvSpPr/>
          <p:nvPr/>
        </p:nvSpPr>
        <p:spPr>
          <a:xfrm>
            <a:off x="78181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ône callLLM(), point d'entrée unique" descr="callLLM(), point d'entrée u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496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callLLM(), point d'entrée unique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19202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en fichiers, délai, nouvelles tentatives, validation Zod, données personnelles masquées.</a:t>
            </a:r>
            <a:endParaRPr lang="en-US" sz="1400" dirty="0"/>
          </a:p>
        </p:txBody>
      </p:sp>
      <p:sp>
        <p:nvSpPr>
          <p:cNvPr id="9" name="cercle Fournisseurs interchangeables"/>
          <p:cNvSpPr/>
          <p:nvPr/>
        </p:nvSpPr>
        <p:spPr>
          <a:xfrm>
            <a:off x="781812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ône Fournisseurs interchangeables" descr="Fournisseurs interchangeab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1089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496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interchangeables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549640" y="3429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Simulé, Gemini, Claude ou Ollama : une variable d'environnement.</a:t>
            </a:r>
            <a:endParaRPr lang="en-US" sz="1400" dirty="0"/>
          </a:p>
        </p:txBody>
      </p:sp>
      <p:sp>
        <p:nvSpPr>
          <p:cNvPr id="13" name="cercle Besoin caché protégé"/>
          <p:cNvSpPr/>
          <p:nvPr/>
        </p:nvSpPr>
        <p:spPr>
          <a:xfrm>
            <a:off x="7818120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ône Besoin caché protégé" descr="Besoin caché protég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6177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4964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caché protégé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549640" y="4937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 par Prisma, sérialiseur public, filet responseGuard sur chaque réponse.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méthode avec l'assistant de programmation</a:t>
            </a:r>
            <a:endParaRPr lang="en-US" sz="3600" dirty="0"/>
          </a:p>
        </p:txBody>
      </p:sp>
      <p:sp>
        <p:nvSpPr>
          <p:cNvPr id="3" name="étape Contexte et objectif"/>
          <p:cNvSpPr/>
          <p:nvPr/>
        </p:nvSpPr>
        <p:spPr>
          <a:xfrm>
            <a:off x="548640" y="141732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: cadre, contraintes et conventions, rechargé à chaque session.</a:t>
            </a:r>
            <a:endParaRPr lang="en-US" sz="1400" dirty="0"/>
          </a:p>
        </p:txBody>
      </p:sp>
      <p:sp>
        <p:nvSpPr>
          <p:cNvPr id="7" name="étape Plan avant le code"/>
          <p:cNvSpPr/>
          <p:nvPr/>
        </p:nvSpPr>
        <p:spPr>
          <a:xfrm>
            <a:off x="3154680" y="141732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94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avant le code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Présente-moi ton plan et attends ma validation. »</a:t>
            </a:r>
            <a:endParaRPr lang="en-US" sz="1400" dirty="0"/>
          </a:p>
        </p:txBody>
      </p:sp>
      <p:sp>
        <p:nvSpPr>
          <p:cNvPr id="11" name="étape Validation humaine"/>
          <p:cNvSpPr/>
          <p:nvPr/>
        </p:nvSpPr>
        <p:spPr>
          <a:xfrm>
            <a:off x="5760720" y="141732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2194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répond aux questions et corrige le plan.</a:t>
            </a:r>
            <a:endParaRPr lang="en-US" sz="1400" dirty="0"/>
          </a:p>
        </p:txBody>
      </p:sp>
      <p:sp>
        <p:nvSpPr>
          <p:cNvPr id="15" name="étape Génération"/>
          <p:cNvSpPr/>
          <p:nvPr/>
        </p:nvSpPr>
        <p:spPr>
          <a:xfrm>
            <a:off x="548640" y="379476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72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834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 et documentation.</a:t>
            </a:r>
            <a:endParaRPr lang="en-US" sz="1400" dirty="0"/>
          </a:p>
        </p:txBody>
      </p:sp>
      <p:sp>
        <p:nvSpPr>
          <p:cNvPr id="19" name="étape Vérification réelle"/>
          <p:cNvSpPr/>
          <p:nvPr/>
        </p:nvSpPr>
        <p:spPr>
          <a:xfrm>
            <a:off x="3154680" y="379476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572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réelle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9834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tests, base, navigateur : l'IA corrige ce qu'elle constate.</a:t>
            </a:r>
            <a:endParaRPr lang="en-US" sz="1400" dirty="0"/>
          </a:p>
        </p:txBody>
      </p:sp>
      <p:sp>
        <p:nvSpPr>
          <p:cNvPr id="23" name="étape Traçabilité"/>
          <p:cNvSpPr/>
          <p:nvPr/>
        </p:nvSpPr>
        <p:spPr>
          <a:xfrm>
            <a:off x="5760720" y="3794760"/>
            <a:ext cx="2468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39776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4572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498348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mot pour mot et résumé dans le journal du module.</a:t>
            </a:r>
            <a:endParaRPr lang="en-US" sz="1400" dirty="0"/>
          </a:p>
        </p:txBody>
      </p:sp>
      <p:sp>
        <p:nvSpPr>
          <p:cNvPr id="27" name="statistique prompts"/>
          <p:cNvSpPr/>
          <p:nvPr/>
        </p:nvSpPr>
        <p:spPr>
          <a:xfrm>
            <a:off x="8503920" y="141732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3252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2860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tracés mot pour mot : 17 communs, 17 dans les modules</a:t>
            </a:r>
            <a:endParaRPr lang="en-US" sz="1400" dirty="0"/>
          </a:p>
        </p:txBody>
      </p:sp>
      <p:sp>
        <p:nvSpPr>
          <p:cNvPr id="30" name="statistique outils"/>
          <p:cNvSpPr/>
          <p:nvPr/>
        </p:nvSpPr>
        <p:spPr>
          <a:xfrm>
            <a:off x="8503920" y="3794760"/>
            <a:ext cx="3108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3252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outils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6634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Kiro et Antigravity, avec le même contexte CLAUDE.md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 prompt : P-001</a:t>
            </a:r>
            <a:endParaRPr lang="en-US" sz="3600" dirty="0"/>
          </a:p>
        </p:txBody>
      </p:sp>
      <p:sp>
        <p:nvSpPr>
          <p:cNvPr id="3" name="extrait du prompt"/>
          <p:cNvSpPr/>
          <p:nvPr/>
        </p:nvSpPr>
        <p:spPr>
          <a:xfrm>
            <a:off x="548640" y="1371600"/>
            <a:ext cx="6126480" cy="4526280"/>
          </a:xfrm>
          <a:prstGeom prst="roundRect">
            <a:avLst>
              <a:gd name="adj" fmla="val 1616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es l'architecte logiciel de notre équipe. […]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Avant de créer le moindre fichier, présente-moi ton plan (arborescence complète et liste des fichiers) et attends ma validation.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PARTIE 1 — CONTEXTE DU PROJET (à enregistrer dans CLAUDE.md)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Contraintes obligatoires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Toute sortie du LLM est validée par un schéma Zod avant d'être utilisée ou affichée.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PARTIE 5 — GIT ET FINALISATION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Vérifie que le projet s'installe et démarre (serveur, client, base de données), corrige les erreurs éventuelles […]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89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 mot pour mot ; prompt complet (82 lignes) en annexe A du rapport.</a:t>
            </a:r>
            <a:endParaRPr lang="en-US" sz="1100" dirty="0"/>
          </a:p>
        </p:txBody>
      </p:sp>
      <p:sp>
        <p:nvSpPr>
          <p:cNvPr id="6" name="cercle Un rôle et une mission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ône Un rôle et une mission" descr="Un rôle et une 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330" y="15430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et une mission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1746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l'architecte de l'équipe.</a:t>
            </a:r>
            <a:endParaRPr lang="en-US" sz="1400" dirty="0"/>
          </a:p>
        </p:txBody>
      </p:sp>
      <p:sp>
        <p:nvSpPr>
          <p:cNvPr id="10" name="cercle Un contexte persistant"/>
          <p:cNvSpPr/>
          <p:nvPr/>
        </p:nvSpPr>
        <p:spPr>
          <a:xfrm>
            <a:off x="7086600" y="231343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ône Un contexte persistant" descr="Un contexte persist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330" y="24391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0" y="2295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contexte persistant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2642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partagé par Git avec les 5 membres.</a:t>
            </a:r>
            <a:endParaRPr lang="en-US" sz="1400" dirty="0"/>
          </a:p>
        </p:txBody>
      </p:sp>
      <p:sp>
        <p:nvSpPr>
          <p:cNvPr id="14" name="cercle Des contraintes vérifiables"/>
          <p:cNvSpPr/>
          <p:nvPr/>
        </p:nvSpPr>
        <p:spPr>
          <a:xfrm>
            <a:off x="7086600" y="320954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ône Des contraintes vérifiables" descr="Des contraintes vérifiab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333527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0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contraintes vérifiables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0" y="3538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contraintes obligatoires, chacune testée.</a:t>
            </a:r>
            <a:endParaRPr lang="en-US" sz="1400" dirty="0"/>
          </a:p>
        </p:txBody>
      </p:sp>
      <p:sp>
        <p:nvSpPr>
          <p:cNvPr id="18" name="cercle Le plan d'abord"/>
          <p:cNvSpPr/>
          <p:nvPr/>
        </p:nvSpPr>
        <p:spPr>
          <a:xfrm>
            <a:off x="7086600" y="41056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ône Le plan d'abord" descr="Le plan d'abo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423138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72400" y="4087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d'abord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fichier créé avant la validation.</a:t>
            </a:r>
            <a:endParaRPr lang="en-US" sz="1400" dirty="0"/>
          </a:p>
        </p:txBody>
      </p:sp>
      <p:sp>
        <p:nvSpPr>
          <p:cNvPr id="22" name="cercle Une vérification exigée"/>
          <p:cNvSpPr/>
          <p:nvPr/>
        </p:nvSpPr>
        <p:spPr>
          <a:xfrm>
            <a:off x="7086600" y="50017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ône Une vérification exigée" descr="Une vérification exigé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5127498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772400" y="4983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vérification exigée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0" y="5330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doit réellement démarrer.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prompts système, versionnés et testés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023360"/>
                <a:gridCol w="49377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generate-scenario (+ 3 niveaux)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génération de connaissances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client-reply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Chain-of-Thought, Few-shot, anti-injection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de l'entretien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generate-change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 liée au cahier des charges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evaluate-response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Self-consistency, raisonnement avant la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match-requirements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Least-to-most : un point du besoin à la fois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evaluate-document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Grille de 6 critères, Few-shot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recommend-scenario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Few-shot, historique anonymisé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ercle Prompts en fichiers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ône Prompts en fichiers" descr="Prompts en fich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574929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55778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écrits en dur : un fichier par prompt dans prompts/, une réponse simulée par prompt dans mocks/, et toute sortie validée par un schéma Zod.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· Générateur de clients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Khalil Abdelmoumen · Claude Code</a:t>
            </a:r>
            <a:endParaRPr lang="en-US" sz="1600" dirty="0"/>
          </a:p>
        </p:txBody>
      </p:sp>
      <p:sp>
        <p:nvSpPr>
          <p:cNvPr id="4" name="cercle Le problème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Le problème" descr="Le 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8630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19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connaissance du métier, le LLM produit des scénarios génériques et peut inventer des faits.</a:t>
            </a:r>
            <a:endParaRPr lang="en-US" sz="1400" dirty="0"/>
          </a:p>
        </p:txBody>
      </p:sp>
      <p:sp>
        <p:nvSpPr>
          <p:cNvPr id="8" name="cercle La techniqu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ône La technique" descr="La tech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071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fiches métier (36 situations) découpées en blocs et vectorisées (embeddings Gemini ou TF-IDF local), puis retrouvées par similarité cosinus et MMR. Le LLM cite ses sources, vérifiées par Zod.</a:t>
            </a:r>
            <a:endParaRPr lang="en-US" sz="1400" dirty="0"/>
          </a:p>
        </p:txBody>
      </p:sp>
      <p:sp>
        <p:nvSpPr>
          <p:cNvPr id="12" name="cercle La preuv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ône La preuve" descr="La preu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56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4223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calibrés pour gemini-embedding-001 ; besoin caché reformulé, pas recopié ; 36 tests.</a:t>
            </a:r>
            <a:endParaRPr lang="en-US" sz="1400" dirty="0"/>
          </a:p>
        </p:txBody>
      </p:sp>
      <p:sp>
        <p:nvSpPr>
          <p:cNvPr id="16" name="cadre Génération appuyée sur la base de connaissances"/>
          <p:cNvSpPr/>
          <p:nvPr/>
        </p:nvSpPr>
        <p:spPr>
          <a:xfrm>
            <a:off x="6044184" y="1700784"/>
            <a:ext cx="5605272" cy="384605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7" name="Génération appuyée sur la base de connaissances" descr="Génération appuyée sur la base de connaissanc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5532120" cy="37729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61999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appuyée sur la base de connaissances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· Entretien client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et Few-shot — Kenza Baccar · Kiro</a:t>
            </a:r>
            <a:endParaRPr lang="en-US" sz="1600" dirty="0"/>
          </a:p>
        </p:txBody>
      </p:sp>
      <p:sp>
        <p:nvSpPr>
          <p:cNvPr id="4" name="cercle Le problème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Le problème" descr="Le 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8630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19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simulé incohérent révèle tout trop vite, ou se laisse manipuler.</a:t>
            </a:r>
            <a:endParaRPr lang="en-US" sz="1400" dirty="0"/>
          </a:p>
        </p:txBody>
      </p:sp>
      <p:sp>
        <p:nvSpPr>
          <p:cNvPr id="8" name="cercle La techniqu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ône La technique" descr="La tech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071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est analysée en 4 étapes avant la réponse (Chain-of-Thought) et calibrée par 4 exemples (Few-shot). Les messages de l'étudiant sont des données, jamais des instructions.</a:t>
            </a:r>
            <a:endParaRPr lang="en-US" sz="1400" dirty="0"/>
          </a:p>
        </p:txBody>
      </p:sp>
      <p:sp>
        <p:nvSpPr>
          <p:cNvPr id="12" name="cercle La preuv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ône La preuve" descr="La preu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56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4223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formulations d'injection testées sur 6 personnalités ; avec Gemini, l'injection n'a rien révélé ; 36 tests.</a:t>
            </a:r>
            <a:endParaRPr lang="en-US" sz="1400" dirty="0"/>
          </a:p>
        </p:txBody>
      </p:sp>
      <p:sp>
        <p:nvSpPr>
          <p:cNvPr id="16" name="cadre Injection déjouée et répartition des questions"/>
          <p:cNvSpPr/>
          <p:nvPr/>
        </p:nvSpPr>
        <p:spPr>
          <a:xfrm>
            <a:off x="6044184" y="1700784"/>
            <a:ext cx="5605272" cy="41061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7" name="Injection déjouée et répartition des questions" descr="Injection déjouée et répartition des ques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5532120" cy="40330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88009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déjouée et répartition des questions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Demandes de changement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— Ismail Ismail · Antigravity</a:t>
            </a:r>
            <a:endParaRPr lang="en-US" sz="1600" dirty="0"/>
          </a:p>
        </p:txBody>
      </p:sp>
      <p:sp>
        <p:nvSpPr>
          <p:cNvPr id="4" name="cercle Le problème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Le problème" descr="Le 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8630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19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évaluation par LLM varie d'un appel à l'autre : une seule note est peu fiable.</a:t>
            </a:r>
            <a:endParaRPr lang="en-US" sz="1400" dirty="0"/>
          </a:p>
        </p:txBody>
      </p:sp>
      <p:sp>
        <p:nvSpPr>
          <p:cNvPr id="8" name="cercle La techniqu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ône La technique" descr="La tech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071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évaluations indépendantes en parallèle (température 0,7), chacune raisonne avant de noter. Vote majoritaire, note médiane, désaccord signalé à l'étudiant.</a:t>
            </a:r>
            <a:endParaRPr lang="en-US" sz="1400" dirty="0"/>
          </a:p>
        </p:txBody>
      </p:sp>
      <p:sp>
        <p:nvSpPr>
          <p:cNvPr id="12" name="cercle La preuv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ône La preuve" descr="La preu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56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4223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Gemini : 3 votes sur 3 concordants, 2,2 s pour les 3 évaluations ; 45 tests.</a:t>
            </a:r>
            <a:endParaRPr lang="en-US" sz="1400" dirty="0"/>
          </a:p>
        </p:txBody>
      </p:sp>
      <p:sp>
        <p:nvSpPr>
          <p:cNvPr id="16" name="cadre Décision attendue et accord des 3 évaluations"/>
          <p:cNvSpPr/>
          <p:nvPr/>
        </p:nvSpPr>
        <p:spPr>
          <a:xfrm>
            <a:off x="6044184" y="1700784"/>
            <a:ext cx="5605272" cy="4009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7" name="Décision attendue et accord des 3 évaluations" descr="Décision attendue et accord des 3 évalu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5532120" cy="39365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78365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attendue et accord des 3 évaluations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Cahier des charges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Least-to-most — Nadhem Hmida · Claude Code</a:t>
            </a:r>
            <a:endParaRPr lang="en-US" sz="1600" dirty="0"/>
          </a:p>
        </p:txBody>
      </p:sp>
      <p:sp>
        <p:nvSpPr>
          <p:cNvPr id="4" name="cercle Le problème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Le problème" descr="Le 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8630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19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note globale du cahier des charges n'explique pas ce qui manque.</a:t>
            </a:r>
            <a:endParaRPr lang="en-US" sz="1400" dirty="0"/>
          </a:p>
        </p:txBody>
      </p:sp>
      <p:sp>
        <p:nvSpPr>
          <p:cNvPr id="8" name="cercle La techniqu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ône La technique" descr="La tech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071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caché est découpé en points ; chaque exigence est rapprochée d'un point, puis le document est noté sur une grille de 6 critères. La couverture est calculée par le serveur.</a:t>
            </a:r>
            <a:endParaRPr lang="en-US" sz="1400" dirty="0"/>
          </a:p>
        </p:txBody>
      </p:sp>
      <p:sp>
        <p:nvSpPr>
          <p:cNvPr id="12" name="cercle La preuv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ône La preuve" descr="La preu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56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4223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Gemini, un document hors sujet obtient 0 sur 30 en couverture ; fournisseur compatible OpenAI ajouté (P-013) ; 37 tests.</a:t>
            </a:r>
            <a:endParaRPr lang="en-US" sz="1400" dirty="0"/>
          </a:p>
        </p:txBody>
      </p:sp>
      <p:sp>
        <p:nvSpPr>
          <p:cNvPr id="16" name="cadre Correspondance avec le besoin réel, point par point"/>
          <p:cNvSpPr/>
          <p:nvPr/>
        </p:nvSpPr>
        <p:spPr>
          <a:xfrm>
            <a:off x="6044184" y="1700784"/>
            <a:ext cx="5605272" cy="394386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7" name="Correspondance avec le besoin réel, point par point" descr="Correspondance avec le besoin réel, point par po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5532120" cy="387071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717805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avec le besoin réel, point par 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· Tableau de bord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— Aziz Louati · Kiro</a:t>
            </a:r>
            <a:endParaRPr lang="en-US" sz="1600" dirty="0"/>
          </a:p>
        </p:txBody>
      </p:sp>
      <p:sp>
        <p:nvSpPr>
          <p:cNvPr id="4" name="cercle Le problème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Le problème" descr="Le probl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8630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19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le prochain scénario selon les points faibles réels de l'étudiant.</a:t>
            </a:r>
            <a:endParaRPr lang="en-US" sz="1400" dirty="0"/>
          </a:p>
        </p:txBody>
      </p:sp>
      <p:sp>
        <p:nvSpPr>
          <p:cNvPr id="8" name="cercle La technique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ône La technique" descr="La techni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449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071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exemples « historique → recommandation » (Few-shot), points faibles avant la recommandation, historique anonymisé, valeurs limitées au catalogue par Zod.</a:t>
            </a:r>
            <a:endParaRPr lang="en-US" sz="1400" dirty="0"/>
          </a:p>
        </p:txBody>
      </p:sp>
      <p:sp>
        <p:nvSpPr>
          <p:cNvPr id="12" name="cercle La preuve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ône La preuve" descr="La preu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00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5056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54223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Gemini : recommandation conforme, faiblesse repérée « entretiens trop courts » ; 55 tests.</a:t>
            </a:r>
            <a:endParaRPr lang="en-US" sz="1400" dirty="0"/>
          </a:p>
        </p:txBody>
      </p:sp>
      <p:sp>
        <p:nvSpPr>
          <p:cNvPr id="16" name="cadre Tableau de bord et recommandation de l'IA"/>
          <p:cNvSpPr/>
          <p:nvPr/>
        </p:nvSpPr>
        <p:spPr>
          <a:xfrm>
            <a:off x="6044184" y="1700784"/>
            <a:ext cx="5605272" cy="4104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7" name="Tableau de bord et recommandation de l'IA" descr="Tableau de bord et recommandation de l'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5532120" cy="40313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5878473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et recommandation de l'IA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Testé avec un vrai LLM : Gemini</a:t>
            </a:r>
            <a:endParaRPr lang="en-US" sz="3600" dirty="0"/>
          </a:p>
        </p:txBody>
      </p:sp>
      <p:sp>
        <p:nvSpPr>
          <p:cNvPr id="3" name="statistique appels réussis sur 2 séances complètes"/>
          <p:cNvSpPr/>
          <p:nvPr/>
        </p:nvSpPr>
        <p:spPr>
          <a:xfrm>
            <a:off x="54864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34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réussis sur 2 séances complètes</a:t>
            </a:r>
            <a:endParaRPr lang="en-US" sz="1400" dirty="0"/>
          </a:p>
        </p:txBody>
      </p:sp>
      <p:sp>
        <p:nvSpPr>
          <p:cNvPr id="6" name="statistique par message de l'entretien"/>
          <p:cNvSpPr/>
          <p:nvPr/>
        </p:nvSpPr>
        <p:spPr>
          <a:xfrm>
            <a:off x="336042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90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à 1,8 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8902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message de l'entretien</a:t>
            </a:r>
            <a:endParaRPr lang="en-US" sz="1400" dirty="0"/>
          </a:p>
        </p:txBody>
      </p:sp>
      <p:sp>
        <p:nvSpPr>
          <p:cNvPr id="9" name="statistique secret dans 16 endpoints, 2 séances"/>
          <p:cNvSpPr/>
          <p:nvPr/>
        </p:nvSpPr>
        <p:spPr>
          <a:xfrm>
            <a:off x="617220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dans 16 endpoints, 2 séances</a:t>
            </a:r>
            <a:endParaRPr lang="en-US" sz="1400" dirty="0"/>
          </a:p>
        </p:txBody>
      </p:sp>
      <p:sp>
        <p:nvSpPr>
          <p:cNvPr id="12" name="statistique défauts révélés, corrigés et testés"/>
          <p:cNvSpPr/>
          <p:nvPr/>
        </p:nvSpPr>
        <p:spPr>
          <a:xfrm>
            <a:off x="898398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258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125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révélés, corrigés et testés</a:t>
            </a:r>
            <a:endParaRPr lang="en-US" sz="1400" dirty="0"/>
          </a:p>
        </p:txBody>
      </p:sp>
      <p:sp>
        <p:nvSpPr>
          <p:cNvPr id="15" name="cadre Entretien joué avec Gemini"/>
          <p:cNvSpPr/>
          <p:nvPr/>
        </p:nvSpPr>
        <p:spPr>
          <a:xfrm>
            <a:off x="512516" y="2980944"/>
            <a:ext cx="3684128" cy="32278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6" name="Entretien joué avec Gemini" descr="Entretien joué avec Gem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092" y="3017520"/>
            <a:ext cx="3610976" cy="3154680"/>
          </a:xfrm>
          <a:prstGeom prst="rect">
            <a:avLst/>
          </a:prstGeom>
        </p:spPr>
      </p:pic>
      <p:sp>
        <p:nvSpPr>
          <p:cNvPr id="17" name="cadre Demande de changement évaluée par Gemini"/>
          <p:cNvSpPr/>
          <p:nvPr/>
        </p:nvSpPr>
        <p:spPr>
          <a:xfrm>
            <a:off x="4350924" y="2980944"/>
            <a:ext cx="2911033" cy="32278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61A22">
                <a:alpha val="12000"/>
              </a:srgbClr>
            </a:outerShdw>
          </a:effectLst>
        </p:spPr>
      </p:sp>
      <p:pic>
        <p:nvPicPr>
          <p:cNvPr id="18" name="Demande de changement évaluée par Gemini" descr="Demande de changement évaluée par Gemi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500" y="3017520"/>
            <a:ext cx="2837881" cy="31546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635240" y="3017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que le mode simulé ne montrait pas</a:t>
            </a:r>
            <a:endParaRPr lang="en-US" sz="1600" dirty="0"/>
          </a:p>
        </p:txBody>
      </p:sp>
      <p:sp>
        <p:nvSpPr>
          <p:cNvPr id="20" name="cercle Conversation terminée par le modèle"/>
          <p:cNvSpPr/>
          <p:nvPr/>
        </p:nvSpPr>
        <p:spPr>
          <a:xfrm>
            <a:off x="7635240" y="3520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ône Conversation terminée par le modèle" descr="Conversation terminée par le modè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110" y="3623310"/>
            <a:ext cx="205740" cy="2057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83880" y="34747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terminée par le modèle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refusée par Gemini : un dernier message de l'utilisateur est ajouté.</a:t>
            </a:r>
            <a:endParaRPr lang="en-US" sz="1400" dirty="0"/>
          </a:p>
        </p:txBody>
      </p:sp>
      <p:sp>
        <p:nvSpPr>
          <p:cNvPr id="23" name="cercle Nouvelle tentative identique"/>
          <p:cNvSpPr/>
          <p:nvPr/>
        </p:nvSpPr>
        <p:spPr>
          <a:xfrm>
            <a:off x="7635240" y="44074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ône Nouvelle tentative identique" descr="Nouvelle tentative identiqu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4510278"/>
            <a:ext cx="205740" cy="2057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3880" y="43616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tentative identique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motif du refus est transmis au modèle.</a:t>
            </a:r>
            <a:endParaRPr lang="en-US" sz="1400" dirty="0"/>
          </a:p>
        </p:txBody>
      </p:sp>
      <p:sp>
        <p:nvSpPr>
          <p:cNvPr id="26" name="cercle Ordre des messages"/>
          <p:cNvSpPr/>
          <p:nvPr/>
        </p:nvSpPr>
        <p:spPr>
          <a:xfrm>
            <a:off x="7635240" y="5294376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cône Ordre des messages" descr="Ordre des messag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110" y="5397246"/>
            <a:ext cx="205740" cy="2057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83880" y="524865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des messages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précède toujours la réponse.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 une séance : 31 440 tokens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01000" y="1371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54 %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00100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tokens en entrée viennent de l'entretien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9718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message renvoie le prompt système et l'historique : de 2 237 à 2 666 tokens.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L'auto-cohérence triple le coût d'une évaluation.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: cache de prompt pour la partie fixe, cache de la recommandation.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 et optimisation du modèle</a:t>
            </a:r>
            <a:endParaRPr lang="en-US" sz="3600" dirty="0"/>
          </a:p>
        </p:txBody>
      </p:sp>
      <p:sp>
        <p:nvSpPr>
          <p:cNvPr id="3" name="optimisation Prompt tuning"/>
          <p:cNvSpPr/>
          <p:nvPr/>
        </p:nvSpPr>
        <p:spPr>
          <a:xfrm>
            <a:off x="54864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cercle Prompt tuning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ône Prompt tuning" descr="Prompt tu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27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tuning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versionnés de v0.1 à v0.3, chaque version testée.</a:t>
            </a:r>
            <a:endParaRPr lang="en-US" sz="1400" dirty="0"/>
          </a:p>
        </p:txBody>
      </p:sp>
      <p:sp>
        <p:nvSpPr>
          <p:cNvPr id="8" name="optimisation RAG"/>
          <p:cNvSpPr/>
          <p:nvPr/>
        </p:nvSpPr>
        <p:spPr>
          <a:xfrm>
            <a:off x="429768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cercle RAG"/>
          <p:cNvSpPr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ône RAG" descr="R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6802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527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du métier retrouvés dans 12 fiches.</a:t>
            </a:r>
            <a:endParaRPr lang="en-US" sz="1400" dirty="0"/>
          </a:p>
        </p:txBody>
      </p:sp>
      <p:sp>
        <p:nvSpPr>
          <p:cNvPr id="13" name="optimisation Fine-tuning"/>
          <p:cNvSpPr/>
          <p:nvPr/>
        </p:nvSpPr>
        <p:spPr>
          <a:xfrm>
            <a:off x="804672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cercle Fine-tuning"/>
          <p:cNvSpPr/>
          <p:nvPr/>
        </p:nvSpPr>
        <p:spPr>
          <a:xfrm>
            <a:off x="8229600" y="15544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ône Fine-tuning" descr="Fine-tu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6802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5400" y="1527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9154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: ni GPU ni données ; RAG et Few-shot à la place.</a:t>
            </a:r>
            <a:endParaRPr lang="en-US" sz="1400" dirty="0"/>
          </a:p>
        </p:txBody>
      </p:sp>
      <p:sp>
        <p:nvSpPr>
          <p:cNvPr id="18" name="optimisation Hyperparamètres"/>
          <p:cNvSpPr/>
          <p:nvPr/>
        </p:nvSpPr>
        <p:spPr>
          <a:xfrm>
            <a:off x="548640" y="297180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cercle Hyperparamètres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ône Hyperparamètres" descr="Hyperparamèt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261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0,7 pour les 3 votes, délai de 60 s, seuils du RAG calibrés.</a:t>
            </a:r>
            <a:endParaRPr lang="en-US" sz="1400" dirty="0"/>
          </a:p>
        </p:txBody>
      </p:sp>
      <p:sp>
        <p:nvSpPr>
          <p:cNvPr id="23" name="optimisation Choix du modèle"/>
          <p:cNvSpPr/>
          <p:nvPr/>
        </p:nvSpPr>
        <p:spPr>
          <a:xfrm>
            <a:off x="4297680" y="297180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cercle Choix du modèle"/>
          <p:cNvSpPr/>
          <p:nvPr/>
        </p:nvSpPr>
        <p:spPr>
          <a:xfrm>
            <a:off x="448056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ône Choix du modèle" descr="Choix du modè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332613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6636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modèle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16636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flash-lite répond en 1 à 3 s ; 2.5-flash dépassait le délai.</a:t>
            </a:r>
            <a:endParaRPr lang="en-US" sz="1400" dirty="0"/>
          </a:p>
        </p:txBody>
      </p:sp>
      <p:sp>
        <p:nvSpPr>
          <p:cNvPr id="28" name="optimisation Cache"/>
          <p:cNvSpPr/>
          <p:nvPr/>
        </p:nvSpPr>
        <p:spPr>
          <a:xfrm>
            <a:off x="8046720" y="297180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cercle Cache"/>
          <p:cNvSpPr/>
          <p:nvPr/>
        </p:nvSpPr>
        <p:spPr>
          <a:xfrm>
            <a:off x="822960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ône Cache" descr="Ca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332613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1540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91540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des fiches calculés une fois par démarrage.</a:t>
            </a:r>
            <a:endParaRPr lang="en-US" sz="1400" dirty="0"/>
          </a:p>
        </p:txBody>
      </p:sp>
      <p:sp>
        <p:nvSpPr>
          <p:cNvPr id="33" name="optimisation Coût"/>
          <p:cNvSpPr/>
          <p:nvPr/>
        </p:nvSpPr>
        <p:spPr>
          <a:xfrm>
            <a:off x="548640" y="461772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cercle Coût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cône Coût" descr="Coû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97205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818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1417320" y="5212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simulé : 243 tests sans aucun appel payant.</a:t>
            </a:r>
            <a:endParaRPr lang="en-US" sz="1400" dirty="0"/>
          </a:p>
        </p:txBody>
      </p:sp>
      <p:sp>
        <p:nvSpPr>
          <p:cNvPr id="38" name="optimisation Latence"/>
          <p:cNvSpPr/>
          <p:nvPr/>
        </p:nvSpPr>
        <p:spPr>
          <a:xfrm>
            <a:off x="4297680" y="461772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9" name="cercle Latence"/>
          <p:cNvSpPr/>
          <p:nvPr/>
        </p:nvSpPr>
        <p:spPr>
          <a:xfrm>
            <a:off x="448056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cône Latence" descr="Laten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290" y="4972050"/>
            <a:ext cx="251460" cy="2514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66360" y="4818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5166360" y="5212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évaluations en parallèle, dans le temps d'une seule.</a:t>
            </a:r>
            <a:endParaRPr lang="en-US" sz="1400" dirty="0"/>
          </a:p>
        </p:txBody>
      </p:sp>
      <p:sp>
        <p:nvSpPr>
          <p:cNvPr id="43" name="optimisation Tokens"/>
          <p:cNvSpPr/>
          <p:nvPr/>
        </p:nvSpPr>
        <p:spPr>
          <a:xfrm>
            <a:off x="8046720" y="461772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4" name="cercle Tokens"/>
          <p:cNvSpPr/>
          <p:nvPr/>
        </p:nvSpPr>
        <p:spPr>
          <a:xfrm>
            <a:off x="822960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cône Tokens" descr="Toke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330" y="4972050"/>
            <a:ext cx="251460" cy="25146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915400" y="4818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8915400" y="5212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limité (10 premiers et 20 derniers messages), consommation mesurée.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L'IA pour détecter les anomalies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intégration</a:t>
            </a:r>
            <a:endParaRPr lang="en-US" sz="1800" dirty="0"/>
          </a:p>
        </p:txBody>
      </p:sp>
      <p:sp>
        <p:nvSpPr>
          <p:cNvPr id="4" name="méthode 1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470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suite de tests, base lancée : 0 échec et 0 ignoré.</a:t>
            </a:r>
            <a:endParaRPr lang="en-US" sz="1400" dirty="0"/>
          </a:p>
        </p:txBody>
      </p:sp>
      <p:sp>
        <p:nvSpPr>
          <p:cNvPr id="7" name="méthode 2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15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complet joué par l'API, puis dans un navigateur.</a:t>
            </a:r>
            <a:endParaRPr lang="en-US" sz="1400" dirty="0"/>
          </a:p>
        </p:txBody>
      </p:sp>
      <p:sp>
        <p:nvSpPr>
          <p:cNvPr id="10" name="méthode 3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8444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réponse de l'API fouillée à la recherche d'un secret.</a:t>
            </a:r>
            <a:endParaRPr lang="en-US" sz="1400" dirty="0"/>
          </a:p>
        </p:txBody>
      </p:sp>
      <p:sp>
        <p:nvSpPr>
          <p:cNvPr id="13" name="méthode 4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531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protections attaquées : injection, recopie, accès croisé.</a:t>
            </a:r>
            <a:endParaRPr lang="en-US" sz="1400" dirty="0"/>
          </a:p>
        </p:txBody>
      </p:sp>
      <p:sp>
        <p:nvSpPr>
          <p:cNvPr id="16" name="anomalie Tests ignorés en silence"/>
          <p:cNvSpPr/>
          <p:nvPr/>
        </p:nvSpPr>
        <p:spPr>
          <a:xfrm>
            <a:off x="5852160" y="1325880"/>
            <a:ext cx="2788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cercle Tests ignorés en silence"/>
          <p:cNvSpPr/>
          <p:nvPr/>
        </p:nvSpPr>
        <p:spPr>
          <a:xfrm>
            <a:off x="603504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ône Tests ignorés en silence" descr="Tests ignorés en sil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910" y="1611630"/>
            <a:ext cx="205740" cy="2057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58368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ignorés en silence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0 échec » affiché alors que 2 fichiers ne s'exécutaient jamais ; 12 tests sur 34 échouaient (M5).</a:t>
            </a:r>
            <a:endParaRPr lang="en-US" sz="1300" dirty="0"/>
          </a:p>
        </p:txBody>
      </p:sp>
      <p:sp>
        <p:nvSpPr>
          <p:cNvPr id="21" name="anomalie Protection contournable"/>
          <p:cNvSpPr/>
          <p:nvPr/>
        </p:nvSpPr>
        <p:spPr>
          <a:xfrm>
            <a:off x="8778240" y="1325880"/>
            <a:ext cx="2788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cercle Protection contournable"/>
          <p:cNvSpPr/>
          <p:nvPr/>
        </p:nvSpPr>
        <p:spPr>
          <a:xfrm>
            <a:off x="896112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ône Protection contournable" descr="Protection contourn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990" y="1611630"/>
            <a:ext cx="205740" cy="2057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5097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contournable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961120" y="20574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ne cherchait que les mots « besoin caché » ; remplacé par 6 mots consécutifs (M3).</a:t>
            </a:r>
            <a:endParaRPr lang="en-US" sz="1300" dirty="0"/>
          </a:p>
        </p:txBody>
      </p:sp>
      <p:sp>
        <p:nvSpPr>
          <p:cNvPr id="26" name="anomalie Erreur 404 devenue 500"/>
          <p:cNvSpPr/>
          <p:nvPr/>
        </p:nvSpPr>
        <p:spPr>
          <a:xfrm>
            <a:off x="5852160" y="3383280"/>
            <a:ext cx="2788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cercle Erreur 404 devenue 500"/>
          <p:cNvSpPr/>
          <p:nvPr/>
        </p:nvSpPr>
        <p:spPr>
          <a:xfrm>
            <a:off x="6035040" y="3566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ône Erreur 404 devenue 500" descr="Erreur 404 devenue 50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910" y="3669030"/>
            <a:ext cx="205740" cy="20574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58368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404 devenue 500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03504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de l'erreur inversés : une séance introuvable faisait planter la page (M5).</a:t>
            </a:r>
            <a:endParaRPr lang="en-US" sz="1300" dirty="0"/>
          </a:p>
        </p:txBody>
      </p:sp>
      <p:sp>
        <p:nvSpPr>
          <p:cNvPr id="31" name="anomalie Séance terminée trop tôt"/>
          <p:cNvSpPr/>
          <p:nvPr/>
        </p:nvSpPr>
        <p:spPr>
          <a:xfrm>
            <a:off x="8778240" y="3383280"/>
            <a:ext cx="27889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cercle Séance terminée trop tôt"/>
          <p:cNvSpPr/>
          <p:nvPr/>
        </p:nvSpPr>
        <p:spPr>
          <a:xfrm>
            <a:off x="8961120" y="35661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cône Séance terminée trop tôt" descr="Séance terminée trop tô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990" y="3669030"/>
            <a:ext cx="205740" cy="20574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509760" y="3566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terminée trop tôt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961120" y="4114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 de l'entretien bloquait les demandes de changement (P-012).</a:t>
            </a:r>
            <a:endParaRPr lang="en-US" sz="1300" dirty="0"/>
          </a:p>
        </p:txBody>
      </p:sp>
      <p:sp>
        <p:nvSpPr>
          <p:cNvPr id="36" name="bandeau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test ignoré n'est pas un test réussi. »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npm audit : body-parser corrigé ; une chaîne Prisma, utilisée seulement en développement, analysée et documentée.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éthiques</a:t>
            </a:r>
            <a:endParaRPr lang="en-US" sz="3600" dirty="0"/>
          </a:p>
        </p:txBody>
      </p:sp>
      <p:sp>
        <p:nvSpPr>
          <p:cNvPr id="3" name="cercle Évaluer des étudiants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ône Évaluer des étudiants" descr="Évaluer des étudia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61163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44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des étudiants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874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d'entraînement, expliquées ; l'enseignant commente et note : la décision reste humaine.</a:t>
            </a:r>
            <a:endParaRPr lang="en-US" sz="1500" dirty="0"/>
          </a:p>
        </p:txBody>
      </p:sp>
      <p:sp>
        <p:nvSpPr>
          <p:cNvPr id="7" name="cercle Biais"/>
          <p:cNvSpPr/>
          <p:nvPr/>
        </p:nvSpPr>
        <p:spPr>
          <a:xfrm>
            <a:off x="61722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ône Biais" descr="Bia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16116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444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1874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Personnalités limitées à un catalogue, accords de genre vérifiés ; pas encore d'audit systématique.</a:t>
            </a:r>
            <a:endParaRPr lang="en-US" sz="1500" dirty="0"/>
          </a:p>
        </p:txBody>
      </p:sp>
      <p:sp>
        <p:nvSpPr>
          <p:cNvPr id="11" name="cercle Hallucinations"/>
          <p:cNvSpPr/>
          <p:nvPr/>
        </p:nvSpPr>
        <p:spPr>
          <a:xfrm>
            <a:off x="548640" y="3154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ône Hallucinations" descr="Hallucina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30327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566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du métier fournis par le RAG, sources vérifiées par Zod.</a:t>
            </a:r>
            <a:endParaRPr lang="en-US" sz="1500" dirty="0"/>
          </a:p>
        </p:txBody>
      </p:sp>
      <p:sp>
        <p:nvSpPr>
          <p:cNvPr id="15" name="cercle Confidentialité"/>
          <p:cNvSpPr/>
          <p:nvPr/>
        </p:nvSpPr>
        <p:spPr>
          <a:xfrm>
            <a:off x="6172200" y="3154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ône Confidentialité" descr="Confidentialit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0" y="330327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49440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949440" y="3566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nom ni email envoyés, aucun contenu journalisé. Usage réel : fournisseur sous contrat ou Ollama local.</a:t>
            </a:r>
            <a:endParaRPr lang="en-US" sz="1500" dirty="0"/>
          </a:p>
        </p:txBody>
      </p:sp>
      <p:sp>
        <p:nvSpPr>
          <p:cNvPr id="19" name="cercle Manipulation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ône Manipulation" descr="Manipul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49949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828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257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 repérées, comptées et rappelées dans la synthèse.</a:t>
            </a:r>
            <a:endParaRPr lang="en-US" sz="1500" dirty="0"/>
          </a:p>
        </p:txBody>
      </p:sp>
      <p:sp>
        <p:nvSpPr>
          <p:cNvPr id="23" name="cercle Coût environnemental"/>
          <p:cNvSpPr/>
          <p:nvPr/>
        </p:nvSpPr>
        <p:spPr>
          <a:xfrm>
            <a:off x="6172200" y="4846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ône Coût environnemental" descr="Coût environnement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790" y="499491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49440" y="4828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environnemental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6949440" y="5257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31 000 tokens par séance, mesurés ; modèle léger.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Productivité : 10 jours pour un projet complet</a:t>
            </a:r>
            <a:endParaRPr lang="en-US" sz="3600" dirty="0"/>
          </a:p>
        </p:txBody>
      </p:sp>
      <p:sp>
        <p:nvSpPr>
          <p:cNvPr id="3" name="statistique P-001 : 132 fichiers et 9 249 lignes, vérifiés"/>
          <p:cNvSpPr/>
          <p:nvPr/>
        </p:nvSpPr>
        <p:spPr>
          <a:xfrm>
            <a:off x="548640" y="13258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nuit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P-001 : 132 fichiers et 9 249 lignes, vérifiés</a:t>
            </a:r>
            <a:endParaRPr lang="en-US" sz="1400" dirty="0"/>
          </a:p>
        </p:txBody>
      </p:sp>
      <p:sp>
        <p:nvSpPr>
          <p:cNvPr id="6" name="statistique lignes de code applicatif"/>
          <p:cNvSpPr/>
          <p:nvPr/>
        </p:nvSpPr>
        <p:spPr>
          <a:xfrm>
            <a:off x="3360420" y="13258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902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9 500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890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 applicatif</a:t>
            </a:r>
            <a:endParaRPr lang="en-US" sz="1400" dirty="0"/>
          </a:p>
        </p:txBody>
      </p:sp>
      <p:sp>
        <p:nvSpPr>
          <p:cNvPr id="9" name="statistique tests automatisés, aucun ignoré"/>
          <p:cNvSpPr/>
          <p:nvPr/>
        </p:nvSpPr>
        <p:spPr>
          <a:xfrm>
            <a:off x="6172200" y="13258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automatisés, aucun ignoré</a:t>
            </a:r>
            <a:endParaRPr lang="en-US" sz="1400" dirty="0"/>
          </a:p>
        </p:txBody>
      </p:sp>
      <p:sp>
        <p:nvSpPr>
          <p:cNvPr id="12" name="statistique prompts tracés mot pour mot"/>
          <p:cNvSpPr/>
          <p:nvPr/>
        </p:nvSpPr>
        <p:spPr>
          <a:xfrm>
            <a:off x="8983980" y="13258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258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2125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tracés mot pour mot</a:t>
            </a:r>
            <a:endParaRPr lang="en-US" sz="1400" dirty="0"/>
          </a:p>
        </p:txBody>
      </p:sp>
      <p:sp>
        <p:nvSpPr>
          <p:cNvPr id="15" name="ce que l'IA a accéléré"/>
          <p:cNvSpPr/>
          <p:nvPr/>
        </p:nvSpPr>
        <p:spPr>
          <a:xfrm>
            <a:off x="548640" y="3200400"/>
            <a:ext cx="544068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cercle Accéléré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ône Accéléré" descr="Accélér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3554730"/>
            <a:ext cx="251460" cy="2514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34564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l'IA a accéléré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commune et les squelettes des 5 modules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et les scripts de vérification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captures et le rapport, générés</a:t>
            </a:r>
            <a:endParaRPr lang="en-US" sz="1700" dirty="0"/>
          </a:p>
        </p:txBody>
      </p:sp>
      <p:sp>
        <p:nvSpPr>
          <p:cNvPr id="20" name="la contrepartie"/>
          <p:cNvSpPr/>
          <p:nvPr/>
        </p:nvSpPr>
        <p:spPr>
          <a:xfrm>
            <a:off x="6172200" y="3200400"/>
            <a:ext cx="544068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cercle Contrepartie"/>
          <p:cNvSpPr/>
          <p:nvPr/>
        </p:nvSpPr>
        <p:spPr>
          <a:xfrm>
            <a:off x="640080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ône Contrepartie" descr="Contrepart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355473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86600" y="34564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contrepartie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défauts graves venaient d'un code plausible mais non vérifié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partie du temps gagné est réinvestie dans la relecture et les tests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retenons</a:t>
            </a:r>
            <a:endParaRPr lang="en-US" sz="4000" dirty="0"/>
          </a:p>
        </p:txBody>
      </p:sp>
      <p:sp>
        <p:nvSpPr>
          <p:cNvPr id="3" name="cercle Le code garantit ce que le prompt demande"/>
          <p:cNvSpPr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ône Le code garantit ce que le prompt demande" descr="Le code garantit ce que le prompt deman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9545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764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garantit ce que le prompt demande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1945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Zod, contrôle de fuite, valeurs autorisées.</a:t>
            </a:r>
            <a:endParaRPr lang="en-US" sz="1600" dirty="0"/>
          </a:p>
        </p:txBody>
      </p:sp>
      <p:sp>
        <p:nvSpPr>
          <p:cNvPr id="7" name="cercle Les défauts se révèlent à l'intégration"/>
          <p:cNvSpPr/>
          <p:nvPr/>
        </p:nvSpPr>
        <p:spPr>
          <a:xfrm>
            <a:off x="731520" y="2971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ône Les défauts se révèlent à l'intégration" descr="Les défauts se révèlent à l'intég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14325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9535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défauts se révèlent à l'intégration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383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 vrai LLM en révèle d'autres que le mode simulé.</a:t>
            </a:r>
            <a:endParaRPr lang="en-US" sz="1600" dirty="0"/>
          </a:p>
        </p:txBody>
      </p:sp>
      <p:sp>
        <p:nvSpPr>
          <p:cNvPr id="11" name="cercle Les décisions restent humaines"/>
          <p:cNvSpPr/>
          <p:nvPr/>
        </p:nvSpPr>
        <p:spPr>
          <a:xfrm>
            <a:off x="73152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ône Les décisions restent humaines" descr="Les décisions restent huma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33197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41422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décisions restent humaines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572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validé, relecture, tests réellement exécutés.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: plus de séances avec de vrais LLM, cache de la recommandation, prompt d'évaluation renforcé.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Des questions 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ent Infernal">
  <a:themeElements>
    <a:clrScheme name="Client Infernal">
      <a:dk1>
        <a:srgbClr val="161A22"/>
      </a:dk1>
      <a:lt1>
        <a:srgbClr val="FFFFFF"/>
      </a:lt1>
      <a:dk2>
        <a:srgbClr val="5B6474"/>
      </a:dk2>
      <a:lt2>
        <a:srgbClr val="F7F8FA"/>
      </a:lt2>
      <a:accent1>
        <a:srgbClr val="B3261E"/>
      </a:accent1>
      <a:accent2>
        <a:srgbClr val="E8890C"/>
      </a:accent2>
      <a:accent3>
        <a:srgbClr val="1E7D4F"/>
      </a:accent3>
      <a:accent4>
        <a:srgbClr val="1F5FBF"/>
      </a:accent4>
      <a:accent5>
        <a:srgbClr val="8C1D18"/>
      </a:accent5>
      <a:accent6>
        <a:srgbClr val="DDE1E8"/>
      </a:accent6>
      <a:hlink>
        <a:srgbClr val="1F5FBF"/>
      </a:hlink>
      <a:folHlink>
        <a:srgbClr val="8C1D18"/>
      </a:folHlink>
    </a:clrScheme>
    <a:fontScheme name="Client Infer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Client Infernal</dc:title>
  <dc:subject>PptxGenJS Presentation</dc:subject>
  <dc:creator>Équipe Le Client Infernal</dc:creator>
  <cp:lastModifiedBy>Équipe Le Client Infernal</cp:lastModifiedBy>
  <cp:revision>1</cp:revision>
  <dcterms:created xsi:type="dcterms:W3CDTF">2026-10-26T01:33:33Z</dcterms:created>
  <dcterms:modified xsi:type="dcterms:W3CDTF">2026-10-26T01:33:33Z</dcterms:modified>
</cp:coreProperties>
</file>